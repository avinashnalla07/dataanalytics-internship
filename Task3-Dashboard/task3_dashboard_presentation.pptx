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DEEP-DIVE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D9488"/>
                </a:solidFill>
                <a:latin typeface="Calibri"/>
              </a:defRPr>
            </a:pPr>
            <a:r>
              <a:t>&amp; Interactive Dashboarding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Intern: Avinash Nalla  |  ID: APSPL2632585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ApexPlanet Software 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D9488"/>
                </a:solidFill>
                <a:latin typeface="Calibri"/>
              </a:defRPr>
            </a:pPr>
            <a:r>
              <a:t>Task 3 — Deep-Dive Analysis &amp; Interactive Dashboarding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KPI Definitions &amp; Formulas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457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KPI 1: 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Formula: SUM(Sales)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$2,297,201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Measures overall business size and growth trajectory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457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KPI 2: Profit Margin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Formula: (SUM(Profit)/SUM(Sales))×100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12.47%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Evaluates pricing strategy and operational efficiency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KPI 3: Avg Order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Formula: SUM(Sales)/COUNT(DISTINCT Order 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$458.61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Indicates purchasing behavior and sales effectiveness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4904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86200"/>
            <a:ext cx="457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KPI 4: Customer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Formula: (Returning/Total Customers)×100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~79.3%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Measures customer loyalty and satisfaction levels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374904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886200"/>
            <a:ext cx="457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KPI 5: Loss 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389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Formula: (Loss Orders/Total Orders)×100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~18.4%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Identifies proportion of value-destroying transactions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Customer Segmentation by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sk3_customer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37160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High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117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14.8% of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&gt; $5,000 total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92608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Mid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509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64.2% of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$1,000 – $5,000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48056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Low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167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21.1% of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&lt; $1,000 total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Yearly Sales Trend by Customer Segment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sk3_yearly_segmen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All three segments show consistent growth from 2014-2017, with High Value customers driving the majority of revenue acceleration.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Cohort Analysis — Customer Value Over Years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828800" cy="548640"/>
          </a:xfrm>
          <a:prstGeom prst="roundRect">
            <a:avLst>
              <a:gd name="adj" fmla="val 3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1828800" cy="548640"/>
          </a:xfrm>
          <a:prstGeom prst="roundRect">
            <a:avLst>
              <a:gd name="adj" fmla="val 3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Active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371600"/>
            <a:ext cx="1828800" cy="548640"/>
          </a:xfrm>
          <a:prstGeom prst="roundRect">
            <a:avLst>
              <a:gd name="adj" fmla="val 3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371600"/>
            <a:ext cx="1828800" cy="548640"/>
          </a:xfrm>
          <a:prstGeom prst="roundRect">
            <a:avLst>
              <a:gd name="adj" fmla="val 3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1828800" cy="548640"/>
          </a:xfrm>
          <a:prstGeom prst="roundRect">
            <a:avLst>
              <a:gd name="adj" fmla="val 3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Avg Sales/Customer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01168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01168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627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01168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$484K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01168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$63K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01168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$772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274320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274320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634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274320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$470K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274320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$58K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274320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$742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47472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2016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6080" y="347472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661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347472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$609K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0" y="347472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$79K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47472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$921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20624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2017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26080" y="420624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608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693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37760" y="420624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$733K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49440" y="420624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$87K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20" y="4206240"/>
            <a:ext cx="1828800" cy="59436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$1,058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Key Trends: Active customer base grew 10.5% (627 to 693), while average revenue per customer increased 37% ($772 to $1,058), indicating both acquisition and value growth.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5669280"/>
            <a:ext cx="2926080" cy="73152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4-Year Revenue Growth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" y="5989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+51.4%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0" y="5669280"/>
            <a:ext cx="2926080" cy="73152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768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Customer Growth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97680" y="5989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8"/>
                </a:solidFill>
                <a:latin typeface="Calibri"/>
              </a:defRPr>
            </a:pPr>
            <a:r>
              <a:t>+10.5%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0" y="5669280"/>
            <a:ext cx="2926080" cy="73152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98079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Avg Value Growth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79" y="5989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+37.0%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Top 10 High Value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548640" cy="457200"/>
          </a:xfrm>
          <a:prstGeom prst="roundRect">
            <a:avLst>
              <a:gd name="adj" fmla="val 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161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188720"/>
            <a:ext cx="2743200" cy="457200"/>
          </a:xfrm>
          <a:prstGeom prst="roundRect">
            <a:avLst>
              <a:gd name="adj" fmla="val 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216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Customer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1645920" cy="457200"/>
          </a:xfrm>
          <a:prstGeom prst="roundRect">
            <a:avLst>
              <a:gd name="adj" fmla="val 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216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Total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188720"/>
            <a:ext cx="1645920" cy="457200"/>
          </a:xfrm>
          <a:prstGeom prst="roundRect">
            <a:avLst>
              <a:gd name="adj" fmla="val 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216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Total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0" y="1188720"/>
            <a:ext cx="914400" cy="457200"/>
          </a:xfrm>
          <a:prstGeom prst="roundRect">
            <a:avLst>
              <a:gd name="adj" fmla="val 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2161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188720"/>
            <a:ext cx="1645920" cy="457200"/>
          </a:xfrm>
          <a:prstGeom prst="roundRect">
            <a:avLst>
              <a:gd name="adj" fmla="val 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216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Profit Margin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737360"/>
            <a:ext cx="54864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8013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1737360"/>
            <a:ext cx="274320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1801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Sean Miller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7373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801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$25,043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17373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1801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  <a:latin typeface="Calibri"/>
              </a:defRPr>
            </a:pPr>
            <a:r>
              <a:t>$-1,981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0" y="1737360"/>
            <a:ext cx="91440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18013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7373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801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-7.9%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2194560"/>
            <a:ext cx="54864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22585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0" y="2194560"/>
            <a:ext cx="274320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Tamara Chand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21945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2258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$19,052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21945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258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$8,981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0" y="2194560"/>
            <a:ext cx="91440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2258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21945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2258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47.1%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2651760"/>
            <a:ext cx="54864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27157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63040" y="2651760"/>
            <a:ext cx="274320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3040" y="2715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Raymond Buch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26517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2715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$15,117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52160" y="26517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2715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$6,976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98080" y="2651760"/>
            <a:ext cx="91440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2715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26517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2715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46.1%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" y="3108960"/>
            <a:ext cx="54864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3172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63040" y="3108960"/>
            <a:ext cx="274320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63040" y="3172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Tom Ashbrook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06240" y="31089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0" y="3172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$14,596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852160" y="31089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52160" y="3172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$4,704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98080" y="3108960"/>
            <a:ext cx="91440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80" y="3172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12480" y="31089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3172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32.2%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" y="3566160"/>
            <a:ext cx="54864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36301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463040" y="3566160"/>
            <a:ext cx="274320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3630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Adrian Barton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06240" y="35661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0" y="3630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$14,474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52160" y="35661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52160" y="3630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$5,445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498080" y="3566160"/>
            <a:ext cx="91440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98080" y="3630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412480" y="35661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12480" y="3630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37.6%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4400" y="4023360"/>
            <a:ext cx="54864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4400" y="40873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463040" y="4023360"/>
            <a:ext cx="274320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463040" y="4087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Ken Lonsdale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206240" y="40233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06240" y="4087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$14,175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852160" y="40233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52160" y="4087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$807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498080" y="4023360"/>
            <a:ext cx="91440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98080" y="40873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12480" y="40233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12480" y="4087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5.7%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14400" y="4480560"/>
            <a:ext cx="54864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400" y="45445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463040" y="4480560"/>
            <a:ext cx="274320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63040" y="4544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Sanjit Chand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206240" y="44805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06240" y="4544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$14,142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852160" y="44805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52160" y="4544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$5,757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498080" y="4480560"/>
            <a:ext cx="91440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98080" y="4544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412480" y="44805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412480" y="4544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40.7%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14400" y="4937760"/>
            <a:ext cx="54864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4400" y="50017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463040" y="4937760"/>
            <a:ext cx="274320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463040" y="5001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Hunter Lopez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206240" y="49377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06240" y="500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$12,873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852160" y="49377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852160" y="500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$5,622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498080" y="4937760"/>
            <a:ext cx="91440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498080" y="5001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412480" y="49377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412480" y="5001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43.7%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14400" y="5394960"/>
            <a:ext cx="54864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4400" y="5458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463040" y="5394960"/>
            <a:ext cx="274320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463040" y="5458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Sanjit Engle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206240" y="53949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206240" y="5458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$12,209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852160" y="53949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852160" y="5458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$2,651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498080" y="5394960"/>
            <a:ext cx="91440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498080" y="5458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412480" y="53949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412480" y="5458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21.7%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14400" y="5852160"/>
            <a:ext cx="54864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14400" y="59161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#10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463040" y="5852160"/>
            <a:ext cx="274320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463040" y="5916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Christopher Conant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206240" y="58521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206240" y="5916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$12,129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852160" y="58521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852160" y="5916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$2,177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498080" y="5852160"/>
            <a:ext cx="91440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498080" y="5916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412480" y="5852160"/>
            <a:ext cx="1645920" cy="41148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412480" y="5916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17.9%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Findings from Deep-Dive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Pareto Principle 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14.8% of customers (High Value segment) contribute to the majority of total revenue, validating the 80/20 rule in this business context. Focus retention efforts on these 117 key accounts.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4572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463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Consistent Growth Across All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All three customer value segments show year-over-year growth from 2014-2017. High Value segment growth is accelerating, indicating successful upselling strategies.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4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23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Low Value Churn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167 customers (21.1%) are in the Low Value segment with average total sales under $1,000. These customers need targeted engagement campaigns to move them into Mid Value territory.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4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4023360"/>
            <a:ext cx="4572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41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23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Revenue Per Customer Rising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Average revenue per customer increased 37% over 4 years ($772 to $1,058). Combined with 10.5% customer growth, this dual growth engine is highly positive for long-term sustainability.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D948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332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Avinash Nalla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Intern ID: APSPL2632585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ApexPlanet Software 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D9488"/>
                </a:solidFill>
                <a:latin typeface="Calibri"/>
              </a:defRPr>
            </a:pPr>
            <a:r>
              <a:t>Task 3 — Deep-Dive Analysis &amp; Interactive Dashboarding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