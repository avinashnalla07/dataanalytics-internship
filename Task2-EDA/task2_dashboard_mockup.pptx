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6459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Calibri"/>
              </a:defRPr>
            </a:pPr>
            <a:r>
              <a:t>SUPERSTORE SALES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5603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0D9488"/>
                </a:solidFill>
                <a:latin typeface="Calibri"/>
              </a:defRPr>
            </a:pPr>
            <a:r>
              <a:t>EDA &amp; Business Intelligence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3474720"/>
            <a:ext cx="2133295" cy="2743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38404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4A3B8"/>
                </a:solidFill>
                <a:latin typeface="Calibri"/>
              </a:defRPr>
            </a:pPr>
            <a:r>
              <a:t>Intern: Avinash Nalla  |  ID: APSPL2632585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43891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Calibri"/>
              </a:defRPr>
            </a:pPr>
            <a:r>
              <a:t>ApexPlanet Software Pvt. Ltd.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48463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0D9488"/>
                </a:solidFill>
                <a:latin typeface="Calibri"/>
              </a:defRPr>
            </a:pPr>
            <a:r>
              <a:t>Task 2 — Exploratory Data Analysis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Dataset 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1371600" cy="36576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2560320" cy="1463040"/>
          </a:xfrm>
          <a:prstGeom prst="roundRect">
            <a:avLst>
              <a:gd name="adj" fmla="val 5000"/>
            </a:avLst>
          </a:prstGeom>
          <a:solidFill>
            <a:srgbClr val="0F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1508760"/>
            <a:ext cx="457200" cy="36576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4592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Total Orders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92024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9,994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37744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4B8A6"/>
                </a:solidFill>
                <a:latin typeface="Calibri"/>
              </a:defRPr>
            </a:pPr>
            <a:r>
              <a:t>Transactions analyzed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83280" y="1371600"/>
            <a:ext cx="2560320" cy="1463040"/>
          </a:xfrm>
          <a:prstGeom prst="roundRect">
            <a:avLst>
              <a:gd name="adj" fmla="val 5000"/>
            </a:avLst>
          </a:prstGeom>
          <a:solidFill>
            <a:srgbClr val="0F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0" y="1508760"/>
            <a:ext cx="457200" cy="36576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0" y="164592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Unique Customers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192024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793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237744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4B8A6"/>
                </a:solidFill>
                <a:latin typeface="Calibri"/>
              </a:defRPr>
            </a:pPr>
            <a:r>
              <a:t>Across 3 segments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371600"/>
            <a:ext cx="2560320" cy="1463040"/>
          </a:xfrm>
          <a:prstGeom prst="roundRect">
            <a:avLst>
              <a:gd name="adj" fmla="val 5000"/>
            </a:avLst>
          </a:prstGeom>
          <a:solidFill>
            <a:srgbClr val="0F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92240" y="1508760"/>
            <a:ext cx="457200" cy="36576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164592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Data Columns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192024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21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237744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4B8A6"/>
                </a:solidFill>
                <a:latin typeface="Calibri"/>
              </a:defRPr>
            </a:pPr>
            <a:r>
              <a:t>Original features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52560" y="1371600"/>
            <a:ext cx="2560320" cy="1463040"/>
          </a:xfrm>
          <a:prstGeom prst="roundRect">
            <a:avLst>
              <a:gd name="adj" fmla="val 5000"/>
            </a:avLst>
          </a:prstGeom>
          <a:solidFill>
            <a:srgbClr val="0F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326880" y="1508760"/>
            <a:ext cx="457200" cy="36576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26880" y="164592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Time Period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26880" y="192024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4 Years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26880" y="237744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4B8A6"/>
                </a:solidFill>
                <a:latin typeface="Calibri"/>
              </a:defRPr>
            </a:pPr>
            <a:r>
              <a:t>2014 – 2017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3200400"/>
            <a:ext cx="11064240" cy="3200400"/>
          </a:xfrm>
          <a:prstGeom prst="roundRect">
            <a:avLst>
              <a:gd name="adj" fmla="val 3000"/>
            </a:avLst>
          </a:prstGeom>
          <a:solidFill>
            <a:srgbClr val="0F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33832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Dataset: Superstore Sales (Kaggle) - Retail transactions across the United States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37490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Time Period: January 2014 to December 2017 (48 months of data)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41148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Categories: 3 product categories (Furniture, Office Supplies, Technology) with 17 sub-categories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44805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Geographic Coverage: 4 regions (East, West, Central, South) spanning 49 states and 531 cities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48463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Customer Segments: Consumer (51.6%), Corporate (29.8%), Home Office (18.7%)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52120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Shipping Modes: Standard Class, Second Class, First Class, Same Day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55778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Revenue Range: Individual sales from $0.44 to $22,638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" y="59436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New Features Added: Days_to_Ship, Profit_Margin_%, Order_Year, Order_Month, Order_Month_Name, Is_Loss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Sales by Category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1371600" cy="36576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hart1_sales_by_catego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7315200" cy="438912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8046720" y="1371600"/>
            <a:ext cx="3657600" cy="1280160"/>
          </a:xfrm>
          <a:prstGeom prst="roundRect">
            <a:avLst>
              <a:gd name="adj" fmla="val 5000"/>
            </a:avLst>
          </a:prstGeom>
          <a:solidFill>
            <a:srgbClr val="0F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321040" y="15544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D9488"/>
                </a:solidFill>
                <a:latin typeface="Calibri"/>
              </a:defRPr>
            </a:pPr>
            <a:r>
              <a:t>Technology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1040" y="18745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$836,154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0" y="22402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Highest revenue category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2926080"/>
            <a:ext cx="3657600" cy="1280160"/>
          </a:xfrm>
          <a:prstGeom prst="roundRect">
            <a:avLst>
              <a:gd name="adj" fmla="val 5000"/>
            </a:avLst>
          </a:prstGeom>
          <a:solidFill>
            <a:srgbClr val="0F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21040" y="31089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59E0B"/>
                </a:solidFill>
                <a:latin typeface="Calibri"/>
              </a:defRPr>
            </a:pPr>
            <a:r>
              <a:t>Furniture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0" y="34290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$741,999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1040" y="37947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Second in sales volume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4480560"/>
            <a:ext cx="3657600" cy="1280160"/>
          </a:xfrm>
          <a:prstGeom prst="roundRect">
            <a:avLst>
              <a:gd name="adj" fmla="val 5000"/>
            </a:avLst>
          </a:prstGeom>
          <a:solidFill>
            <a:srgbClr val="0F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0" y="46634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F4444"/>
                </a:solidFill>
                <a:latin typeface="Calibri"/>
              </a:defRPr>
            </a:pPr>
            <a:r>
              <a:t>Office Supplies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49834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$719,047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53492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Lowest but most items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576072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Technology leads revenue with $836K but has the lowest discount rate (13%), suggesting premium pricing strategy works effectively.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Monthly Sales Trend (48 Months)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1371600" cy="36576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hart2_monthly_sa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88720"/>
            <a:ext cx="8686800" cy="411480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9144000" y="1371600"/>
            <a:ext cx="2743200" cy="914400"/>
          </a:xfrm>
          <a:prstGeom prst="roundRect">
            <a:avLst>
              <a:gd name="adj" fmla="val 5000"/>
            </a:avLst>
          </a:prstGeom>
          <a:solidFill>
            <a:srgbClr val="0F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26880" y="146304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Peak Month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0" y="169164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$118,447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2011680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D9488"/>
                </a:solidFill>
                <a:latin typeface="Calibri"/>
              </a:defRPr>
            </a:pPr>
            <a:r>
              <a:t>Nov 2017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0" y="2560320"/>
            <a:ext cx="2743200" cy="914400"/>
          </a:xfrm>
          <a:prstGeom prst="roundRect">
            <a:avLst>
              <a:gd name="adj" fmla="val 5000"/>
            </a:avLst>
          </a:prstGeom>
          <a:solidFill>
            <a:srgbClr val="0F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0" y="265176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Lowest Month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0" y="288036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$4,519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0" y="3200400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D9488"/>
                </a:solidFill>
                <a:latin typeface="Calibri"/>
              </a:defRPr>
            </a:pPr>
            <a:r>
              <a:t>Feb 2014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0" y="3749040"/>
            <a:ext cx="2743200" cy="914400"/>
          </a:xfrm>
          <a:prstGeom prst="roundRect">
            <a:avLst>
              <a:gd name="adj" fmla="val 5000"/>
            </a:avLst>
          </a:prstGeom>
          <a:solidFill>
            <a:srgbClr val="0F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26880" y="384048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Avg Monthly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0" y="406908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$47,941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0" y="4389120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D9488"/>
                </a:solidFill>
                <a:latin typeface="Calibri"/>
              </a:defRPr>
            </a:pPr>
            <a:r>
              <a:t>--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0" y="4937760"/>
            <a:ext cx="2743200" cy="914400"/>
          </a:xfrm>
          <a:prstGeom prst="roundRect">
            <a:avLst>
              <a:gd name="adj" fmla="val 5000"/>
            </a:avLst>
          </a:prstGeom>
          <a:solidFill>
            <a:srgbClr val="0F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26880" y="502920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YoY Growth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0" y="525780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+48.7%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26880" y="5577840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D9488"/>
                </a:solidFill>
                <a:latin typeface="Calibri"/>
              </a:defRPr>
            </a:pPr>
            <a:r>
              <a:t>2014-2017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576072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Sales consistently peak in Q4 (Oct-Dec) due to holiday season, with November 2017 recording the highest single-month sales at $118,447.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Profit by Region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1371600" cy="36576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hart3_profit_by_reg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7315200" cy="438912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8046720" y="1371600"/>
            <a:ext cx="3657600" cy="1005840"/>
          </a:xfrm>
          <a:prstGeom prst="roundRect">
            <a:avLst>
              <a:gd name="adj" fmla="val 5000"/>
            </a:avLst>
          </a:prstGeom>
          <a:solidFill>
            <a:srgbClr val="0F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321040" y="14630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D9488"/>
                </a:solidFill>
                <a:latin typeface="Calibri"/>
              </a:defRPr>
            </a:pPr>
            <a:r>
              <a:t>#1 West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1040" y="173736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$108,418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66960" y="178308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37.8% of total profit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2560320"/>
            <a:ext cx="3657600" cy="1005840"/>
          </a:xfrm>
          <a:prstGeom prst="roundRect">
            <a:avLst>
              <a:gd name="adj" fmla="val 5000"/>
            </a:avLst>
          </a:prstGeom>
          <a:solidFill>
            <a:srgbClr val="0F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21040" y="26517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4B8A6"/>
                </a:solidFill>
                <a:latin typeface="Calibri"/>
              </a:defRPr>
            </a:pPr>
            <a:r>
              <a:t>#2 East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0" y="292608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$91,522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66960" y="297180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32.0% of total profit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3749040"/>
            <a:ext cx="3657600" cy="1005840"/>
          </a:xfrm>
          <a:prstGeom prst="roundRect">
            <a:avLst>
              <a:gd name="adj" fmla="val 5000"/>
            </a:avLst>
          </a:prstGeom>
          <a:solidFill>
            <a:srgbClr val="0F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0" y="38404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59E0B"/>
                </a:solidFill>
                <a:latin typeface="Calibri"/>
              </a:defRPr>
            </a:pPr>
            <a:r>
              <a:t>#3 South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411480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$46,749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66960" y="416052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16.3% of total profit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20" y="4937760"/>
            <a:ext cx="3657600" cy="1005840"/>
          </a:xfrm>
          <a:prstGeom prst="roundRect">
            <a:avLst>
              <a:gd name="adj" fmla="val 5000"/>
            </a:avLst>
          </a:prstGeom>
          <a:solidFill>
            <a:srgbClr val="0F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21040" y="50292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F4444"/>
                </a:solidFill>
                <a:latin typeface="Calibri"/>
              </a:defRPr>
            </a:pPr>
            <a:r>
              <a:t>#4 Central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530352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$39,706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966960" y="534924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13.9% of total profit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576072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West and East regions together account for 69.8% of total profit. Central region underperforms despite having similar order volume.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Discount vs Profit Analysis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1371600" cy="36576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hart4_discount_vs_prof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88720"/>
            <a:ext cx="6858000" cy="411480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498079" y="1188720"/>
            <a:ext cx="4389120" cy="4754880"/>
          </a:xfrm>
          <a:prstGeom prst="roundRect">
            <a:avLst>
              <a:gd name="adj" fmla="val 3000"/>
            </a:avLst>
          </a:prstGeom>
          <a:solidFill>
            <a:srgbClr val="0F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0" y="137160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F4444"/>
                </a:solidFill>
                <a:latin typeface="Calibri"/>
              </a:defRPr>
            </a:pPr>
            <a:r>
              <a:t>Top Loss-Making States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19202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Texas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192024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EF4444"/>
                </a:solidFill>
                <a:latin typeface="Calibri"/>
              </a:defRPr>
            </a:pPr>
            <a:r>
              <a:t>-$25,729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2286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Ohio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0" y="228600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EF4444"/>
                </a:solidFill>
                <a:latin typeface="Calibri"/>
              </a:defRPr>
            </a:pPr>
            <a:r>
              <a:t>-$16,971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26517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Pennsylvania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0" y="265176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EF4444"/>
                </a:solidFill>
                <a:latin typeface="Calibri"/>
              </a:defRPr>
            </a:pPr>
            <a:r>
              <a:t>-$15,559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30175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Illinois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0" y="301752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EF4444"/>
                </a:solidFill>
                <a:latin typeface="Calibri"/>
              </a:defRPr>
            </a:pPr>
            <a:r>
              <a:t>-$12,607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0" y="33832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North Carolina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0" y="338328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EF4444"/>
                </a:solidFill>
                <a:latin typeface="Calibri"/>
              </a:defRPr>
            </a:pPr>
            <a:r>
              <a:t>-$7,490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0" y="37490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Colorado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0" y="374904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EF4444"/>
                </a:solidFill>
                <a:latin typeface="Calibri"/>
              </a:defRPr>
            </a:pPr>
            <a:r>
              <a:t>-$6,527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0" y="4114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Tennessee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0" y="411480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EF4444"/>
                </a:solidFill>
                <a:latin typeface="Calibri"/>
              </a:defRPr>
            </a:pPr>
            <a:r>
              <a:t>-$5,341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0" y="44805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Arizona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0" y="448056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EF4444"/>
                </a:solidFill>
                <a:latin typeface="Calibri"/>
              </a:defRPr>
            </a:pPr>
            <a:r>
              <a:t>-$3,427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0" y="48463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Florida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0" y="484632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EF4444"/>
                </a:solidFill>
                <a:latin typeface="Calibri"/>
              </a:defRPr>
            </a:pPr>
            <a:r>
              <a:t>-$3,399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0" y="52120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Oregon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0" y="521208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EF4444"/>
                </a:solidFill>
                <a:latin typeface="Calibri"/>
              </a:defRPr>
            </a:pPr>
            <a:r>
              <a:t>-$1,190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576072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Higher discounts strongly correlate with negative profits. 10 states show net losses totaling -$98,240, requiring urgent pricing review.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SQL Business Intelligence Queries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1371600" cy="36576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11247120" cy="685800"/>
          </a:xfrm>
          <a:prstGeom prst="roundRect">
            <a:avLst>
              <a:gd name="adj" fmla="val 3000"/>
            </a:avLst>
          </a:prstGeom>
          <a:solidFill>
            <a:srgbClr val="0F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25880"/>
            <a:ext cx="502920" cy="41148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Q1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2801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Top 5 Products by Sales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5448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Canon imageCLASS=$61,599 | Fellowes PB500=$27,453 | Cisco=$22,638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965960"/>
            <a:ext cx="11247120" cy="685800"/>
          </a:xfrm>
          <a:prstGeom prst="roundRect">
            <a:avLst>
              <a:gd name="adj" fmla="val 3000"/>
            </a:avLst>
          </a:prstGeom>
          <a:solidFill>
            <a:srgbClr val="0F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" y="2103120"/>
            <a:ext cx="502920" cy="41148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148840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Q2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0574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Monthly Sales Trend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3317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48 months | Peak: Nov 2017=$118,447 | Low: Feb 2014=$4,519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2743200"/>
            <a:ext cx="11247120" cy="685800"/>
          </a:xfrm>
          <a:prstGeom prst="roundRect">
            <a:avLst>
              <a:gd name="adj" fmla="val 3000"/>
            </a:avLst>
          </a:prstGeom>
          <a:solidFill>
            <a:srgbClr val="0F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40080" y="2880360"/>
            <a:ext cx="502920" cy="41148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2926080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Q3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28346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Profit by Region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10896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West=$108,418 | East=$91,522 | South=$46,749 | Central=$39,706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3520440"/>
            <a:ext cx="11247120" cy="685800"/>
          </a:xfrm>
          <a:prstGeom prst="roundRect">
            <a:avLst>
              <a:gd name="adj" fmla="val 3000"/>
            </a:avLst>
          </a:prstGeom>
          <a:solidFill>
            <a:srgbClr val="0F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40080" y="3657600"/>
            <a:ext cx="502920" cy="41148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3703320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Q4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36118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Customer Count by Segment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1600" y="388620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Consumer=409 | Corporate=236 | Home Office=148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4297680"/>
            <a:ext cx="11247120" cy="685800"/>
          </a:xfrm>
          <a:prstGeom prst="roundRect">
            <a:avLst>
              <a:gd name="adj" fmla="val 3000"/>
            </a:avLst>
          </a:prstGeom>
          <a:solidFill>
            <a:srgbClr val="0F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40080" y="4434840"/>
            <a:ext cx="502920" cy="41148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4480560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Q5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71600" y="43891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Average Discount by Category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466344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Furniture=17% | Office Supplies=16% | Technology=13%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5074920"/>
            <a:ext cx="11247120" cy="685800"/>
          </a:xfrm>
          <a:prstGeom prst="roundRect">
            <a:avLst>
              <a:gd name="adj" fmla="val 3000"/>
            </a:avLst>
          </a:prstGeom>
          <a:solidFill>
            <a:srgbClr val="0F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40080" y="5212080"/>
            <a:ext cx="502920" cy="41148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" y="5257800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Q6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71600" y="51663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States with Negative Profit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71600" y="544068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Texas=-$25,729 | Ohio=-$16,971 | Pennsylvania=-$15,559 + 7 more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7200" y="5852160"/>
            <a:ext cx="11247120" cy="685800"/>
          </a:xfrm>
          <a:prstGeom prst="roundRect">
            <a:avLst>
              <a:gd name="adj" fmla="val 3000"/>
            </a:avLst>
          </a:prstGeom>
          <a:solidFill>
            <a:srgbClr val="0F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640080" y="5989320"/>
            <a:ext cx="502920" cy="41148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080" y="6035040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Q7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71600" y="59436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Orders by Shipping Mode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371600" y="62179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Standard=5,968 | Second=1,945 | First=1,538 | Same Day=543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Customer Segmentation &amp; Shipping Analysis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1371600" cy="36576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5486400" cy="5029200"/>
          </a:xfrm>
          <a:prstGeom prst="roundRect">
            <a:avLst>
              <a:gd name="adj" fmla="val 3000"/>
            </a:avLst>
          </a:prstGeom>
          <a:solidFill>
            <a:srgbClr val="0F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D9488"/>
                </a:solidFill>
                <a:latin typeface="Calibri"/>
              </a:defRPr>
            </a:pPr>
            <a:r>
              <a:t>Customer Segments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4846320" cy="1097280"/>
          </a:xfrm>
          <a:prstGeom prst="roundRect">
            <a:avLst>
              <a:gd name="adj" fmla="val 5000"/>
            </a:avLst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1031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D9488"/>
                </a:solidFill>
                <a:latin typeface="Calibri"/>
              </a:defRPr>
            </a:pPr>
            <a:r>
              <a:t>Consumer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10312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51.6%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4688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409 customers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0" y="24688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94A3B8"/>
                </a:solidFill>
                <a:latin typeface="Calibri"/>
              </a:defRPr>
            </a:pPr>
            <a:r>
              <a:t>$1,161,401 sales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291840"/>
            <a:ext cx="4846320" cy="1097280"/>
          </a:xfrm>
          <a:prstGeom prst="roundRect">
            <a:avLst>
              <a:gd name="adj" fmla="val 5000"/>
            </a:avLst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33832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59E0B"/>
                </a:solidFill>
                <a:latin typeface="Calibri"/>
              </a:defRPr>
            </a:pPr>
            <a:r>
              <a:t>Corporate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0" y="338328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29.8%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37490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236 customers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0" y="37490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94A3B8"/>
                </a:solidFill>
                <a:latin typeface="Calibri"/>
              </a:defRPr>
            </a:pPr>
            <a:r>
              <a:t>$706,146 sales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572000"/>
            <a:ext cx="4846320" cy="1097280"/>
          </a:xfrm>
          <a:prstGeom prst="roundRect">
            <a:avLst>
              <a:gd name="adj" fmla="val 5000"/>
            </a:avLst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46634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8B5CF6"/>
                </a:solidFill>
                <a:latin typeface="Calibri"/>
              </a:defRPr>
            </a:pPr>
            <a:r>
              <a:t>Home Office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40480" y="466344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18.7%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50292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148 customers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26080" y="50292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94A3B8"/>
                </a:solidFill>
                <a:latin typeface="Calibri"/>
              </a:defRPr>
            </a:pPr>
            <a:r>
              <a:t>$429,653 sales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1188720"/>
            <a:ext cx="5486400" cy="5029200"/>
          </a:xfrm>
          <a:prstGeom prst="roundRect">
            <a:avLst>
              <a:gd name="adj" fmla="val 3000"/>
            </a:avLst>
          </a:prstGeom>
          <a:solidFill>
            <a:srgbClr val="0F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92240" y="13716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D9488"/>
                </a:solidFill>
                <a:latin typeface="Calibri"/>
              </a:defRPr>
            </a:pPr>
            <a:r>
              <a:t>Shipping Mode Distribution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92240" y="2011680"/>
            <a:ext cx="4846320" cy="914400"/>
          </a:xfrm>
          <a:prstGeom prst="roundRect">
            <a:avLst>
              <a:gd name="adj" fmla="val 5000"/>
            </a:avLst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66560" y="21031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D9488"/>
                </a:solidFill>
                <a:latin typeface="Calibri"/>
              </a:defRPr>
            </a:pPr>
            <a:r>
              <a:t>Standard Class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0" y="210312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59.7%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66560" y="242316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5,968 orders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0" y="2423160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4-5 days avg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92240" y="3108960"/>
            <a:ext cx="4846320" cy="914400"/>
          </a:xfrm>
          <a:prstGeom prst="roundRect">
            <a:avLst>
              <a:gd name="adj" fmla="val 5000"/>
            </a:avLst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766560" y="32004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4B8A6"/>
                </a:solidFill>
                <a:latin typeface="Calibri"/>
              </a:defRPr>
            </a:pPr>
            <a:r>
              <a:t>Second Class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01200" y="320040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19.5%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66560" y="352044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1,945 orders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0" y="3520440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3-4 days avg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92240" y="4206240"/>
            <a:ext cx="4846320" cy="914400"/>
          </a:xfrm>
          <a:prstGeom prst="roundRect">
            <a:avLst>
              <a:gd name="adj" fmla="val 5000"/>
            </a:avLst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766560" y="42976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9E0B"/>
                </a:solidFill>
                <a:latin typeface="Calibri"/>
              </a:defRPr>
            </a:pPr>
            <a:r>
              <a:t>First Class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01200" y="429768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15.4%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66560" y="461772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1,538 orders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44000" y="4617720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2-3 days avg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492240" y="5303520"/>
            <a:ext cx="4846320" cy="914400"/>
          </a:xfrm>
          <a:prstGeom prst="roundRect">
            <a:avLst>
              <a:gd name="adj" fmla="val 5000"/>
            </a:avLst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766560" y="53949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8B5CF6"/>
                </a:solidFill>
                <a:latin typeface="Calibri"/>
              </a:defRPr>
            </a:pPr>
            <a:r>
              <a:t>Same Day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01200" y="539496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5.4%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766560" y="571500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543 orders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44000" y="5715000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0 days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Key Insights &amp; Recommendations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1371600" cy="36576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5486400" cy="2286000"/>
          </a:xfrm>
          <a:prstGeom prst="roundRect">
            <a:avLst>
              <a:gd name="adj" fmla="val 3000"/>
            </a:avLst>
          </a:prstGeom>
          <a:solidFill>
            <a:srgbClr val="0F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457200" cy="45720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481328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463040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D9488"/>
                </a:solidFill>
                <a:latin typeface="Calibri"/>
              </a:defRPr>
            </a:pPr>
            <a:r>
              <a:t>Optimize Discount Strategy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011680"/>
            <a:ext cx="49377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High discounts (&gt;20%) consistently lead to losses. Recommend capping discounts at 20% and implementing approval workflows for higher discounts. This could recover up to $98K in losses.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188720"/>
            <a:ext cx="5486400" cy="2286000"/>
          </a:xfrm>
          <a:prstGeom prst="roundRect">
            <a:avLst>
              <a:gd name="adj" fmla="val 3000"/>
            </a:avLst>
          </a:prstGeom>
          <a:solidFill>
            <a:srgbClr val="0F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92240" y="1463040"/>
            <a:ext cx="457200" cy="45720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481328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0" y="1463040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59E0B"/>
                </a:solidFill>
                <a:latin typeface="Calibri"/>
              </a:defRPr>
            </a:pPr>
            <a:r>
              <a:t>Focus on Underperforming Regions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011680"/>
            <a:ext cx="49377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Central region generates only $39,706 profit vs West's $108,418. Investigate pricing, product mix, and local competition in Central states. Target Texas (-$25,729) for immediate intervention.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749040"/>
            <a:ext cx="5486400" cy="2286000"/>
          </a:xfrm>
          <a:prstGeom prst="roundRect">
            <a:avLst>
              <a:gd name="adj" fmla="val 3000"/>
            </a:avLst>
          </a:prstGeom>
          <a:solidFill>
            <a:srgbClr val="0F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31520" y="4023360"/>
            <a:ext cx="457200" cy="45720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4041648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4023360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0B981"/>
                </a:solidFill>
                <a:latin typeface="Calibri"/>
              </a:defRPr>
            </a:pPr>
            <a:r>
              <a:t>Leverage Technology Category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572000"/>
            <a:ext cx="49377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Technology generates the highest revenue ($836K) with the lowest discount rate (13%). Expand technology product range and replicate this low-discount, high-value strategy to other categories.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3749040"/>
            <a:ext cx="5486400" cy="2286000"/>
          </a:xfrm>
          <a:prstGeom prst="roundRect">
            <a:avLst>
              <a:gd name="adj" fmla="val 3000"/>
            </a:avLst>
          </a:prstGeom>
          <a:solidFill>
            <a:srgbClr val="0F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492240" y="4023360"/>
            <a:ext cx="457200" cy="457200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92240" y="4041648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0" y="4023360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8B5CF6"/>
                </a:solidFill>
                <a:latin typeface="Calibri"/>
              </a:defRPr>
            </a:pPr>
            <a:r>
              <a:t>Capitalize on Seasonal Trends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4572000"/>
            <a:ext cx="49377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Q4 consistently shows 40-60% higher sales than Q1. Increase marketing spend and inventory levels in September-October to maximize Q4 revenue. Consider early-bird promotions to extend the peak.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0D9488"/>
                </a:solidFill>
                <a:latin typeface="Calibri"/>
              </a:defRPr>
            </a:pPr>
            <a:r>
              <a:t>Thank You!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0" y="2743200"/>
            <a:ext cx="2133295" cy="2743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Calibri"/>
              </a:defRPr>
            </a:pPr>
            <a:r>
              <a:t>Avinash Nalla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749039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4A3B8"/>
                </a:solidFill>
                <a:latin typeface="Calibri"/>
              </a:defRPr>
            </a:pPr>
            <a:r>
              <a:t>Intern ID: APSPL2632585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42062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4A3B8"/>
                </a:solidFill>
                <a:latin typeface="Calibri"/>
              </a:defRPr>
            </a:pPr>
            <a:r>
              <a:t>ApexPlanet Software Pvt. Ltd.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48463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0D9488"/>
                </a:solidFill>
                <a:latin typeface="Calibri"/>
              </a:defRPr>
            </a:pPr>
            <a:r>
              <a:t>Data Analytics Internship — Task 2: EDA &amp; Business Intelligence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