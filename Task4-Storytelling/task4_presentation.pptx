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DATA STORYTELLING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D9488"/>
                </a:solidFill>
                <a:latin typeface="Calibri"/>
              </a:defRPr>
            </a:pPr>
            <a:r>
              <a:t>&amp; Statistical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33295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Intern: Avinash Nalla  |  ID: APSPL2632585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ApexPlanet Software Pvt.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D9488"/>
                </a:solidFill>
                <a:latin typeface="Calibri"/>
              </a:defRPr>
            </a:pPr>
            <a:r>
              <a:t>Task 4 — Data Storytelling &amp; Statistical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Business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22860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The Superstore business faces profitability challenges with ~18.4% of orders generating losses. Management needs data-driven evidence to answer critical questions: Does discounting actually hurt profitability? Are there significant regional differences in sales performance? What actionable strategies can be implemented to improve the bottom line?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11247120" cy="73152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Objective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023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Validate whether discounts statistically reduce profit using rigorous hypothesis 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00600"/>
            <a:ext cx="11247120" cy="73152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Objective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892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Determine if regional sales differences are statistically significant or due to random chance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669280"/>
            <a:ext cx="11247120" cy="73152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Objective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760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Provide evidence-based recommendations to improve business profitability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Dataset Recap — Key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Total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$2,297,201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9488"/>
                </a:solidFill>
                <a:latin typeface="Calibri"/>
              </a:defRPr>
            </a:pPr>
            <a:r>
              <a:t>Sum of all 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325880"/>
            <a:ext cx="457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63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Total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$286,397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"/>
              </a:defRPr>
            </a:pPr>
            <a:r>
              <a:t>Net profit earned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32588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463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Total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9,994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94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alibri"/>
              </a:defRPr>
            </a:pPr>
            <a:r>
              <a:t>Transactions analyzed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8346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971800"/>
            <a:ext cx="457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Profit Margin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12.47%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40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  <a:latin typeface="Calibri"/>
              </a:defRPr>
            </a:pPr>
            <a:r>
              <a:t>Overall margin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28346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2971800"/>
            <a:ext cx="4572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Loss Orders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~1,838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840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Calibri"/>
              </a:defRPr>
            </a:pPr>
            <a:r>
              <a:t>~18.4% of total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28346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0" y="2971800"/>
            <a:ext cx="4572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Customers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793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840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4B8A6"/>
                </a:solidFill>
                <a:latin typeface="Calibri"/>
              </a:defRPr>
            </a:pPr>
            <a:r>
              <a:t>Unique buyers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572000"/>
            <a:ext cx="11247120" cy="18288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alibri"/>
              </a:defRPr>
            </a:pPr>
            <a:r>
              <a:t>Key Findings from Previous Tasks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2120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Task 1: Cleaned 21-column dataset, added 6 derived features, standardized text fields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5778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Task 2: Technology leads revenue ($836K); West region tops profit ($108K); 10 states show net losses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9436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Task 3: 117 High Value, 509 Mid Value, 167 Low Value customers; all segments growing YoY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Finding 1: Technology Leads Revenue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1_sales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71600"/>
            <a:ext cx="4114800" cy="118872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508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$836,154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1874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36.4% of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Lowest discount at 13%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743200"/>
            <a:ext cx="4114800" cy="118872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880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Furniture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$741,999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3246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32.3% of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Highest discount at 17%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4114800"/>
            <a:ext cx="4114800" cy="118872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4251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Office Supplies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$719,047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4617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31.3% of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937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Most items sold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60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Technology's premium pricing strategy works - highest revenue with lowest discounts. Replicate this approach for Furniture to improve margins.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Finding 2: Discounts Significantly Hurt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4_discount_vs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371600"/>
            <a:ext cx="4206240" cy="118872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508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With Discount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-$6.66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40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Average profit per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2834640"/>
            <a:ext cx="4206240" cy="118872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971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Without Discount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$66.90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703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Average profit per 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4297680"/>
            <a:ext cx="4206240" cy="118872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434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Profit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$73.56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1663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Discount costs per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760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The scatter plot shows a clear negative relationship - as discount increases, profit drops. Discounted orders average -$6.66 loss vs $66.90 profit for full-price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Finding 3: Regional Performance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3_profit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188720"/>
            <a:ext cx="4206240" cy="100584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Calibri"/>
              </a:defRPr>
            </a:pPr>
            <a:r>
              <a:t>West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$108,418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45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3,203 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2377440"/>
            <a:ext cx="4206240" cy="100584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East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$91,522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834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2,848 orders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566160"/>
            <a:ext cx="4206240" cy="100584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South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$46,749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0233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1,620 orders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754880"/>
            <a:ext cx="4206240" cy="100584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Central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$39,706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212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2,323 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60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Central region has 2,323 orders but only $39,706 profit - the lowest profit-per-order ratio. West generates 2.7x more profit despite similar volume.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Hypothesis Test 1: Discount vs Profit (T-test)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alibri"/>
              </a:defRPr>
            </a:pPr>
            <a:r>
              <a:t>Test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Method: Independent Samples T-test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Significance Level: α = 0.05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H0: No difference in profit between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H1: Discounted orders have lower profit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Avg Profit (Discounted)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-$6.66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Avg Profit (No Discount)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194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$66.90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T-statistic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560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15.7380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26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P-value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926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4.36e-55 (&lt; 0.05)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49039"/>
            <a:ext cx="11247120" cy="2743200"/>
          </a:xfrm>
          <a:prstGeom prst="roundRect">
            <a:avLst>
              <a:gd name="adj" fmla="val 3000"/>
            </a:avLst>
          </a:prstGeom>
          <a:solidFill>
            <a:srgbClr val="0D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39319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9593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REJECT H0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9776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Statistically significant difference confirmed (p is approximately 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Business Conclusion: Discounts significantly erode profitability. On average, each discounted order generates -$6.66 loss compared to $66.90 profit for non-discounted orders — a gap of $73.56 per order. With thousands of discounted orders annually, this represents substantial revenue leakage.</a:t>
            </a:r>
            <a:br/>
            <a:br/>
            <a:r>
              <a:t>Recommendation: Cap discounts at 20%, implement approval workflows for higher discounts, and shift to value-based promotions such as product bundling and loyalty programs.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Hypothesis Test 2: Region vs Sales (ANOVA)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alibri"/>
              </a:defRPr>
            </a:pPr>
            <a:r>
              <a:t>Test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Method: One-Way ANOVA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Significance Level: α = 0.05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H0: No difference in mean sales across regions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H1: At least one region differs significantly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Groups: East, West, Central, South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F-statistic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0.8006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48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P-value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148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0.4933 (&gt; 0.05)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Central avg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468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Calibri"/>
              </a:defRPr>
            </a:pPr>
            <a:r>
              <a:t>$222.47/order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788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East avg 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788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Calibri"/>
              </a:defRPr>
            </a:pPr>
            <a:r>
              <a:t>$238.34/order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West avg 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108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Calibri"/>
              </a:defRPr>
            </a:pPr>
            <a:r>
              <a:t>$226.49/order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49039"/>
            <a:ext cx="11247120" cy="2743200"/>
          </a:xfrm>
          <a:prstGeom prst="roundRect">
            <a:avLst>
              <a:gd name="adj" fmla="val 3000"/>
            </a:avLst>
          </a:prstGeom>
          <a:solidFill>
            <a:srgbClr val="0D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3931920"/>
            <a:ext cx="320040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9593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FAIL TO REJECT H0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9776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No statistically significant difference found (p = 0.493)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7200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Business Conclusion: While total profit varies dramatically between regions (West=$108K vs Central=$39K), the average sales per individual order is NOT significantly different across regions. This means the profit gap is driven by ORDER VOLUME and DISCOUNT PATTERNS, not by per-order sales values.</a:t>
            </a:r>
            <a:br/>
            <a:br/>
            <a:r>
              <a:t>Recommendation: Focus regional improvement strategies on controlling discounts in underperforming regions (especially Central) and increasing order frequency rather than trying to increase individual order sizes.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Final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5720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alibri"/>
              </a:defRPr>
            </a:pPr>
            <a:r>
              <a:t>Cap Discount 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Implement a maximum discount threshold of 20%. Require VP-level approval for any discount exceeding 15%. This single change could recover $73.56 per discounted order, potentially saving hundreds of thousands in annual profit leakage.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463040"/>
            <a:ext cx="457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81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4630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Regional Discount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Since regional profit gaps are driven by discount patterns (not sales per order), conduct a deep audit of discount practices in Central and South regions. Standardize discount policies across all regions to eliminate inconsistencies.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4904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4572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41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233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Shift to Value-Based Promotions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Replace blanket discounts with customer-loyalty rewards, product bundling, and volume-based pricing tiers. This preserves perceived value while maintaining margins. Target the 167 Low Value customers with upgrade incentives.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4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4023360"/>
            <a:ext cx="45720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041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0233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Implement Real-Time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72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Deploy a dashboard tracking loss order rate, discount levels by region/category, and profit margins by segment in real-time. Set alerts when loss rates exceed 15% in any region or category to enable proactive intervention.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